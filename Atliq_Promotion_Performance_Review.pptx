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341"/>
          </a:solidFill>
          <a:ln w="12700">
            <a:solidFill>
              <a:srgbClr val="18334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4224528" cy="6858000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">
            <a:off x="7516368" y="822960"/>
            <a:ext cx="4754880" cy="4800600"/>
          </a:xfrm>
          <a:prstGeom prst="arc">
            <a:avLst/>
          </a:prstGeom>
          <a:solidFill>
            <a:srgbClr val="087F76">
              <a:alpha val="0"/>
            </a:srgbClr>
          </a:solidFill>
          <a:ln w="29210">
            <a:solidFill>
              <a:srgbClr val="5DAFA7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13648" y="1078992"/>
            <a:ext cx="2542032" cy="1069848"/>
          </a:xfrm>
          <a:prstGeom prst="roundRect">
            <a:avLst>
              <a:gd name="adj" fmla="val 14530"/>
            </a:avLst>
          </a:prstGeom>
          <a:solidFill>
            <a:srgbClr val="248F86"/>
          </a:solidFill>
          <a:ln w="12700">
            <a:solidFill>
              <a:srgbClr val="248F8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spc="130" kern="0" dirty="0">
                <a:solidFill>
                  <a:srgbClr val="E5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2023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8814816" y="1645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+67.1%</a:t>
            </a:r>
            <a:endParaRPr lang="en-US" sz="2230" dirty="0"/>
          </a:p>
        </p:txBody>
      </p:sp>
      <p:sp>
        <p:nvSpPr>
          <p:cNvPr id="8" name="Shape 6"/>
          <p:cNvSpPr/>
          <p:nvPr/>
        </p:nvSpPr>
        <p:spPr>
          <a:xfrm>
            <a:off x="8375904" y="2496312"/>
            <a:ext cx="3090672" cy="1088136"/>
          </a:xfrm>
          <a:prstGeom prst="roundRect">
            <a:avLst>
              <a:gd name="adj" fmla="val 14286"/>
            </a:avLst>
          </a:prstGeom>
          <a:solidFill>
            <a:srgbClr val="31988D"/>
          </a:solidFill>
          <a:ln w="12700">
            <a:solidFill>
              <a:srgbClr val="31988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2743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spc="130" kern="0" dirty="0">
                <a:solidFill>
                  <a:srgbClr val="E5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2024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8595360" y="30632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+157.5%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686800" y="3950208"/>
            <a:ext cx="2487168" cy="1078992"/>
          </a:xfrm>
          <a:prstGeom prst="roundRect">
            <a:avLst>
              <a:gd name="adj" fmla="val 14407"/>
            </a:avLst>
          </a:prstGeom>
          <a:solidFill>
            <a:srgbClr val="20847C"/>
          </a:solidFill>
          <a:ln w="12700">
            <a:solidFill>
              <a:srgbClr val="20847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7968" y="41970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spc="130" kern="0" dirty="0">
                <a:solidFill>
                  <a:srgbClr val="E5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/ CITIES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878824" y="4507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10</a:t>
            </a:r>
            <a:endParaRPr lang="en-US" sz="2230" dirty="0"/>
          </a:p>
        </p:txBody>
      </p:sp>
      <p:sp>
        <p:nvSpPr>
          <p:cNvPr id="14" name="Shape 12"/>
          <p:cNvSpPr/>
          <p:nvPr/>
        </p:nvSpPr>
        <p:spPr>
          <a:xfrm>
            <a:off x="658368" y="685800"/>
            <a:ext cx="429768" cy="77724"/>
          </a:xfrm>
          <a:prstGeom prst="rect">
            <a:avLst/>
          </a:prstGeom>
          <a:solidFill>
            <a:srgbClr val="E8AC56"/>
          </a:solidFill>
          <a:ln w="12700">
            <a:solidFill>
              <a:srgbClr val="E8AC5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0789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spc="130" kern="0" dirty="0">
                <a:solidFill>
                  <a:srgbClr val="9ABA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ANALYTICS / CLIENT BRIEF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49224" y="1828800"/>
            <a:ext cx="713232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4350" dirty="0"/>
          </a:p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4350" dirty="0"/>
          </a:p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4350" dirty="0"/>
          </a:p>
        </p:txBody>
      </p:sp>
      <p:sp>
        <p:nvSpPr>
          <p:cNvPr id="17" name="Text 15"/>
          <p:cNvSpPr/>
          <p:nvPr/>
        </p:nvSpPr>
        <p:spPr>
          <a:xfrm>
            <a:off x="694944" y="46817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20" dirty="0">
                <a:solidFill>
                  <a:srgbClr val="D3E0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2023  ×  Sankranti 2024</a:t>
            </a:r>
            <a:endParaRPr lang="en-US" sz="1820" dirty="0"/>
          </a:p>
        </p:txBody>
      </p:sp>
      <p:sp>
        <p:nvSpPr>
          <p:cNvPr id="18" name="Shape 16"/>
          <p:cNvSpPr/>
          <p:nvPr/>
        </p:nvSpPr>
        <p:spPr>
          <a:xfrm>
            <a:off x="694944" y="5934456"/>
            <a:ext cx="6309360" cy="0"/>
          </a:xfrm>
          <a:prstGeom prst="line">
            <a:avLst/>
          </a:prstGeom>
          <a:noFill/>
          <a:ln w="12700">
            <a:solidFill>
              <a:srgbClr val="5471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608076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0" spc="80" kern="0" dirty="0">
                <a:solidFill>
                  <a:srgbClr val="AFC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IMPACT • STORE PERFORMANCE • PROMOTION MIX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READOUT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signals matter most</a:t>
            </a:r>
            <a:endParaRPr lang="en-US" sz="2560" dirty="0"/>
          </a:p>
        </p:txBody>
      </p:sp>
      <p:sp>
        <p:nvSpPr>
          <p:cNvPr id="7" name="Text 5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view of the two seven-day campaigns.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" y="2057400"/>
            <a:ext cx="3383280" cy="3090672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2057400"/>
            <a:ext cx="3383280" cy="59436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23865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UNIT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8529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+157.5%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22960" y="3685032"/>
            <a:ext cx="2798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stronger volume campaign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822960" y="4361688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rose by 154,175, outpacing Diwali's 73,648-unit increase.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25696" y="2057400"/>
            <a:ext cx="3383280" cy="3090672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2057400"/>
            <a:ext cx="3383280" cy="59436"/>
          </a:xfrm>
          <a:prstGeom prst="rect">
            <a:avLst/>
          </a:prstGeom>
          <a:solidFill>
            <a:srgbClr val="264C59"/>
          </a:solidFill>
          <a:ln w="12700">
            <a:solidFill>
              <a:srgbClr val="264C5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3865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BOGOF UNITS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2584" y="28529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34,461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4672584" y="3685032"/>
            <a:ext cx="2798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meaningful share of Diwali volume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4672584" y="4361688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BOGOF made up 18.8% of post-promotion unit sales.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66176" y="2057400"/>
            <a:ext cx="3383280" cy="3090672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2057400"/>
            <a:ext cx="3383280" cy="59436"/>
          </a:xfrm>
          <a:prstGeom prst="rect">
            <a:avLst/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23865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 SANKRANTI IR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13064" y="28529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−39.3%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8513064" y="3685032"/>
            <a:ext cx="27980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8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clearest weak spot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8513064" y="4361688"/>
            <a:ext cx="2788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offer also recorded −19.6% incremental sold units.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" y="5468112"/>
            <a:ext cx="11000232" cy="685800"/>
          </a:xfrm>
          <a:prstGeom prst="roundRect">
            <a:avLst>
              <a:gd name="adj" fmla="val 16000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5669280"/>
            <a:ext cx="14356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2295144" y="5623560"/>
            <a:ext cx="8942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margin before scaling offers: unit growth and calculated revenue growth tell different stories.</a:t>
            </a:r>
            <a:endParaRPr lang="en-US" sz="12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Q01 + Q03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data before comparing campaigns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1: duplicate records   •   Question 3: missing pre-promotion quantities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" y="1993392"/>
            <a:ext cx="2404872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993392"/>
            <a:ext cx="50292" cy="1298448"/>
          </a:xfrm>
          <a:prstGeom prst="rect">
            <a:avLst/>
          </a:prstGeom>
          <a:solidFill>
            <a:srgbClr val="264C59"/>
          </a:solidFill>
          <a:ln w="12700">
            <a:solidFill>
              <a:srgbClr val="264C5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5528" y="267919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event records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3191256" y="1993392"/>
            <a:ext cx="2404872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91256" y="1993392"/>
            <a:ext cx="50292" cy="1298448"/>
          </a:xfrm>
          <a:prstGeom prst="rect">
            <a:avLst/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01568" y="267919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removed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5797296" y="1993392"/>
            <a:ext cx="2404872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97296" y="1993392"/>
            <a:ext cx="50292" cy="1298448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07608" y="267919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9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quantities filled</a:t>
            </a:r>
            <a:endParaRPr lang="en-US" sz="1090" dirty="0"/>
          </a:p>
        </p:txBody>
      </p:sp>
      <p:sp>
        <p:nvSpPr>
          <p:cNvPr id="24" name="Shape 22"/>
          <p:cNvSpPr/>
          <p:nvPr/>
        </p:nvSpPr>
        <p:spPr>
          <a:xfrm>
            <a:off x="585216" y="3557016"/>
            <a:ext cx="7616952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785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SEQUENCE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05256" y="4334256"/>
            <a:ext cx="1984248" cy="987552"/>
          </a:xfrm>
          <a:prstGeom prst="roundRect">
            <a:avLst>
              <a:gd name="adj" fmla="val 11111"/>
            </a:avLst>
          </a:prstGeom>
          <a:solidFill>
            <a:srgbClr val="EEF1EE"/>
          </a:solidFill>
          <a:ln w="12700">
            <a:solidFill>
              <a:srgbClr val="EEF1E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46227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3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1,510</a:t>
            </a:r>
            <a:endParaRPr lang="en-US" sz="2230" dirty="0"/>
          </a:p>
        </p:txBody>
      </p:sp>
      <p:sp>
        <p:nvSpPr>
          <p:cNvPr id="28" name="Text 26"/>
          <p:cNvSpPr/>
          <p:nvPr/>
        </p:nvSpPr>
        <p:spPr>
          <a:xfrm>
            <a:off x="1069848" y="4937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events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438144" y="4334256"/>
            <a:ext cx="1984248" cy="987552"/>
          </a:xfrm>
          <a:prstGeom prst="roundRect">
            <a:avLst>
              <a:gd name="adj" fmla="val 11111"/>
            </a:avLst>
          </a:prstGeom>
          <a:solidFill>
            <a:srgbClr val="EEF1EE"/>
          </a:solidFill>
          <a:ln w="12700">
            <a:solidFill>
              <a:srgbClr val="EEF1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446227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3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2230" dirty="0"/>
          </a:p>
        </p:txBody>
      </p:sp>
      <p:sp>
        <p:nvSpPr>
          <p:cNvPr id="31" name="Text 29"/>
          <p:cNvSpPr/>
          <p:nvPr/>
        </p:nvSpPr>
        <p:spPr>
          <a:xfrm>
            <a:off x="3602736" y="4937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952744" y="4334256"/>
            <a:ext cx="1984248" cy="987552"/>
          </a:xfrm>
          <a:prstGeom prst="roundRect">
            <a:avLst>
              <a:gd name="adj" fmla="val 1111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336" y="446227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3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2230" dirty="0"/>
          </a:p>
        </p:txBody>
      </p:sp>
      <p:sp>
        <p:nvSpPr>
          <p:cNvPr id="34" name="Text 32"/>
          <p:cNvSpPr/>
          <p:nvPr/>
        </p:nvSpPr>
        <p:spPr>
          <a:xfrm>
            <a:off x="6117336" y="4937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analysis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3044952" y="4663440"/>
            <a:ext cx="26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5596128" y="4663440"/>
            <a:ext cx="265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59536" y="55138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baseline quantities imputed with median = 78 units (1.3% of retained rows).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3050" dirty="0"/>
          </a:p>
        </p:txBody>
      </p:sp>
      <p:sp>
        <p:nvSpPr>
          <p:cNvPr id="42" name="Text 40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campaign–store–product records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base for the analysis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 used store ID, campaign ID and product code. Median imputation retained all valid event combinations.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Imputed quantities are estimates.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FOOTPRINT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Q02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cities have more than five stores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2: store distribution across 10 cities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59359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69087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78815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88543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982712" y="2532888"/>
            <a:ext cx="0" cy="307238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528" y="22585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496312" y="2020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STORES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9536" y="252374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2496312" y="2615184"/>
            <a:ext cx="4987636" cy="164592"/>
          </a:xfrm>
          <a:prstGeom prst="roundRect">
            <a:avLst>
              <a:gd name="adj" fmla="val 25000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5388" y="253288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" y="284835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2496312" y="2939796"/>
            <a:ext cx="3990109" cy="164592"/>
          </a:xfrm>
          <a:prstGeom prst="roundRect">
            <a:avLst>
              <a:gd name="adj" fmla="val 25000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7861" y="28575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" y="317296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2496312" y="3264408"/>
            <a:ext cx="3491345" cy="164592"/>
          </a:xfrm>
          <a:prstGeom prst="roundRect">
            <a:avLst>
              <a:gd name="adj" fmla="val 25000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9097" y="318211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" y="349758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Coimbatore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2496312" y="3589020"/>
            <a:ext cx="2493818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81570" y="350672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" y="382219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Visakhapatnam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2496312" y="3913632"/>
            <a:ext cx="2493818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1570" y="383133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9536" y="414680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Madurai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2496312" y="4238244"/>
            <a:ext cx="1995055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82807" y="415594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9536" y="4471416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Mysuru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2496312" y="4562856"/>
            <a:ext cx="1995055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82807" y="448056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9536" y="479602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Mangalore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2496312" y="4887468"/>
            <a:ext cx="1496291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84043" y="480517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9536" y="5120640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Trivandrum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2496312" y="5212080"/>
            <a:ext cx="997527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279" y="512978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" y="5445252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Vijayawada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2496312" y="5536692"/>
            <a:ext cx="997527" cy="164592"/>
          </a:xfrm>
          <a:prstGeom prst="roundRect">
            <a:avLst>
              <a:gd name="adj" fmla="val 250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279" y="545439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cities</a:t>
            </a:r>
            <a:endParaRPr lang="en-US" sz="3050" dirty="0"/>
          </a:p>
        </p:txBody>
      </p:sp>
      <p:sp>
        <p:nvSpPr>
          <p:cNvPr id="60" name="Text 58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· Chennai · Hyderabad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all stores sit in these markets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these three cities contain 25 of the 50 stores. Their operational patterns may have an outsized influence on overall results.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Threshold: strictly more than five stores.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PRICING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Q04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Care has the lowest average base price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4: record-weighted average base price before promotion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2660904"/>
            <a:ext cx="0" cy="231343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128516" y="2660904"/>
            <a:ext cx="0" cy="231343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9332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330952" y="2660904"/>
            <a:ext cx="0" cy="231343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533388" y="2660904"/>
            <a:ext cx="0" cy="231343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4204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35824" y="2660904"/>
            <a:ext cx="0" cy="231343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2386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926080" y="214884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PRE-PROMOTION PRICE (₹)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" y="26517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Care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2926080" y="2743200"/>
            <a:ext cx="615497" cy="246888"/>
          </a:xfrm>
          <a:prstGeom prst="roundRect">
            <a:avLst>
              <a:gd name="adj" fmla="val 16667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3017" y="26609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32735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Grocery &amp; Staples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2926080" y="3364992"/>
            <a:ext cx="2314689" cy="246888"/>
          </a:xfrm>
          <a:prstGeom prst="roundRect">
            <a:avLst>
              <a:gd name="adj" fmla="val 16667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2209" y="328269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₹385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" y="38953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Care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2926080" y="3986784"/>
            <a:ext cx="2945968" cy="246888"/>
          </a:xfrm>
          <a:prstGeom prst="roundRect">
            <a:avLst>
              <a:gd name="adj" fmla="val 16667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3488" y="390448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₹490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" y="451713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Appliances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2926080" y="4608576"/>
            <a:ext cx="4118343" cy="246888"/>
          </a:xfrm>
          <a:prstGeom prst="roundRect">
            <a:avLst>
              <a:gd name="adj" fmla="val 16667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5863" y="452628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" y="5321808"/>
            <a:ext cx="7516368" cy="521208"/>
          </a:xfrm>
          <a:prstGeom prst="roundRect">
            <a:avLst>
              <a:gd name="adj" fmla="val 15789"/>
            </a:avLst>
          </a:prstGeom>
          <a:solidFill>
            <a:srgbClr val="FBF0DD"/>
          </a:solidFill>
          <a:ln w="12700">
            <a:solidFill>
              <a:srgbClr val="FBF0D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4589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1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category: Combo1 — ₹3,000 average (shown separately to retain a readable scale).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₹102.38</a:t>
            </a:r>
            <a:endParaRPr lang="en-US" sz="3050" dirty="0"/>
          </a:p>
        </p:txBody>
      </p:sp>
      <p:sp>
        <p:nvSpPr>
          <p:cNvPr id="42" name="Text 40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base price • Personal Care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Lowest-priced category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Care also contains the lowest individual observed base price: ₹50 for the Cream Beauty Bathing Soap (125GM).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across event records, not product list prices.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PROMOTION MIX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Q05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BOGOF contributed 34,461 Diwali units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5: post-promotion unit sales by offer type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13432" y="2715768"/>
            <a:ext cx="0" cy="298094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2441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678174" y="2715768"/>
            <a:ext cx="0" cy="298094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8990" y="2441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042916" y="2715768"/>
            <a:ext cx="0" cy="298094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3732" y="2441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28k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407658" y="2715768"/>
            <a:ext cx="0" cy="298094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8474" y="2441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72400" y="2715768"/>
            <a:ext cx="0" cy="298094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24414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56k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313432" y="2203704"/>
            <a:ext cx="5458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POST-PROMOTION UNITS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7824" y="270662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Cashback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2313432" y="2798064"/>
            <a:ext cx="4949042" cy="237744"/>
          </a:xfrm>
          <a:prstGeom prst="roundRect">
            <a:avLst>
              <a:gd name="adj" fmla="val 17308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53914" y="271576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50,769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77824" y="333756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OFF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2313432" y="3429000"/>
            <a:ext cx="4203113" cy="237744"/>
          </a:xfrm>
          <a:prstGeom prst="roundRect">
            <a:avLst>
              <a:gd name="adj" fmla="val 17308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7985" y="334670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43,117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" y="39684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BOGOF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2313432" y="4059936"/>
            <a:ext cx="3359312" cy="237744"/>
          </a:xfrm>
          <a:prstGeom prst="roundRect">
            <a:avLst>
              <a:gd name="adj" fmla="val 17308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4184" y="397764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34,461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77824" y="45994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2313432" y="4690872"/>
            <a:ext cx="3215235" cy="237744"/>
          </a:xfrm>
          <a:prstGeom prst="roundRect">
            <a:avLst>
              <a:gd name="adj" fmla="val 17308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0107" y="460857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32,983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77824" y="523036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OFF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2313432" y="5321808"/>
            <a:ext cx="2151808" cy="237744"/>
          </a:xfrm>
          <a:prstGeom prst="roundRect">
            <a:avLst>
              <a:gd name="adj" fmla="val 17308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56680" y="523951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22,074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3050" dirty="0"/>
          </a:p>
        </p:txBody>
      </p:sp>
      <p:sp>
        <p:nvSpPr>
          <p:cNvPr id="43" name="Text 41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all Diwali post-promotion units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BOGOF was the third-largest volume driver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Cashback and 33% OFF recorded higher volumes. BOGOF still delivered a sizeable contribution to the campaign total.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contribution is not profit contribution.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PERFORMANCE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Q06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STCHE-4 led Diwali unit sales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6: top stores by total units sold after promotion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193438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4254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159045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9861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2,200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124651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95467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090258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1074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4,400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055864" y="2505456"/>
            <a:ext cx="0" cy="311810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2311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5,500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3227832" y="199339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POST-PROMOTION UNITS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" y="24963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STCHE-4   Chennai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3227832" y="2587752"/>
            <a:ext cx="4400532" cy="146304"/>
          </a:xfrm>
          <a:prstGeom prst="roundRect">
            <a:avLst>
              <a:gd name="adj" fmla="val 28125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9804" y="250545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" y="282549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STBLR-7   Bengaluru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3227832" y="2916936"/>
            <a:ext cx="4295193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4465" y="283464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4,893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" y="31546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STBLR-6   Bengaluru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227832" y="3246120"/>
            <a:ext cx="4263591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2863" y="316382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4,857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" y="348386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STCHE-7   Chennai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3227832" y="3575304"/>
            <a:ext cx="4195121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4393" y="34930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3816" y="381304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STMYS-1   Mysuru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3227832" y="3904488"/>
            <a:ext cx="4195121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14393" y="38221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4,779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" y="414223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STBLR-0   Bengaluru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3227832" y="4233672"/>
            <a:ext cx="4177564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6836" y="415137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4,759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" y="447141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STCHE-3   Chennai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3227832" y="4562856"/>
            <a:ext cx="4042380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1652" y="448056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3816" y="48006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STHYD-0   Hyderabad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3227832" y="4892040"/>
            <a:ext cx="3915095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34367" y="480974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4,460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" y="512978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STCHE-6   Chennai</a:t>
            </a:r>
            <a:endParaRPr lang="en-US" sz="1060" dirty="0"/>
          </a:p>
        </p:txBody>
      </p:sp>
      <p:sp>
        <p:nvSpPr>
          <p:cNvPr id="51" name="Shape 49"/>
          <p:cNvSpPr/>
          <p:nvPr/>
        </p:nvSpPr>
        <p:spPr>
          <a:xfrm>
            <a:off x="3227832" y="5221224"/>
            <a:ext cx="3901928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1200" y="513892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4,445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" y="54589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STBLR-4   Bengaluru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3227832" y="5550408"/>
            <a:ext cx="3869448" cy="146304"/>
          </a:xfrm>
          <a:prstGeom prst="roundRect">
            <a:avLst>
              <a:gd name="adj" fmla="val 281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8720" y="546811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5,013</a:t>
            </a:r>
            <a:endParaRPr lang="en-US" sz="3050" dirty="0"/>
          </a:p>
        </p:txBody>
      </p:sp>
      <p:sp>
        <p:nvSpPr>
          <p:cNvPr id="60" name="Text 58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• STCHE-4, Chennai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lead over the next store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STCHE-4 finished 120 units above STBLR-7. Differences are small among top-ranked stores; test which practices are repeatable.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volume, not growth rate or margin.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COMPARISON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Q07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outpaced Diwali in unit growth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7: quantities sold before vs. after each campaign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1396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SOLD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9736" y="2670048"/>
            <a:ext cx="0" cy="2615184"/>
          </a:xfrm>
          <a:prstGeom prst="line">
            <a:avLst/>
          </a:prstGeom>
          <a:noFill/>
          <a:ln w="8890">
            <a:solidFill>
              <a:srgbClr val="E5E9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0k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705606" y="2670048"/>
            <a:ext cx="0" cy="2615184"/>
          </a:xfrm>
          <a:prstGeom prst="line">
            <a:avLst/>
          </a:prstGeom>
          <a:noFill/>
          <a:ln w="8890">
            <a:solidFill>
              <a:srgbClr val="E5E9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4710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70k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951476" y="2670048"/>
            <a:ext cx="0" cy="2615184"/>
          </a:xfrm>
          <a:prstGeom prst="line">
            <a:avLst/>
          </a:prstGeom>
          <a:noFill/>
          <a:ln w="8890">
            <a:solidFill>
              <a:srgbClr val="E5E9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0580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140k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197346" y="2670048"/>
            <a:ext cx="0" cy="2615184"/>
          </a:xfrm>
          <a:prstGeom prst="line">
            <a:avLst/>
          </a:prstGeom>
          <a:noFill/>
          <a:ln w="8890">
            <a:solidFill>
              <a:srgbClr val="E5E9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6450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210k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443216" y="2670048"/>
            <a:ext cx="0" cy="2615184"/>
          </a:xfrm>
          <a:prstGeom prst="line">
            <a:avLst/>
          </a:prstGeom>
          <a:noFill/>
          <a:ln w="8890">
            <a:solidFill>
              <a:srgbClr val="E5E9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280k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1042416" y="31638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</a:t>
            </a:r>
            <a:endParaRPr lang="en-US" sz="1460" dirty="0"/>
          </a:p>
        </p:txBody>
      </p:sp>
      <p:sp>
        <p:nvSpPr>
          <p:cNvPr id="25" name="Shape 23"/>
          <p:cNvSpPr/>
          <p:nvPr/>
        </p:nvSpPr>
        <p:spPr>
          <a:xfrm>
            <a:off x="2459736" y="3035808"/>
            <a:ext cx="1953453" cy="219456"/>
          </a:xfrm>
          <a:prstGeom prst="roundRect">
            <a:avLst>
              <a:gd name="adj" fmla="val 125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5485" y="30266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1,09,756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459736" y="3383280"/>
            <a:ext cx="3264251" cy="219456"/>
          </a:xfrm>
          <a:prstGeom prst="roundRect">
            <a:avLst>
              <a:gd name="adj" fmla="val 12500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283" y="338328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1,83,404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1042416" y="42611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2459736" y="4133088"/>
            <a:ext cx="1742331" cy="219456"/>
          </a:xfrm>
          <a:prstGeom prst="roundRect">
            <a:avLst>
              <a:gd name="adj" fmla="val 12500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84363" y="412394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97,894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459736" y="4480560"/>
            <a:ext cx="4486360" cy="219456"/>
          </a:xfrm>
          <a:prstGeom prst="roundRect">
            <a:avLst>
              <a:gd name="adj" fmla="val 12500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8392" y="44805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2,52,069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097280" y="5358384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07592" y="533095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promotion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5358384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5330952"/>
            <a:ext cx="1527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promotion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" y="5705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  +73,648 units (+67.1%)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370832" y="5705856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  +154,175 units (+157.5%)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+157.5%</a:t>
            </a:r>
            <a:endParaRPr lang="en-US" sz="3050" dirty="0"/>
          </a:p>
        </p:txBody>
      </p:sp>
      <p:sp>
        <p:nvSpPr>
          <p:cNvPr id="44" name="Text 42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growth • Sankranti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and revenue tell different stories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had higher calculated revenue growth (+97.7%) than Sankranti (+52.5%), despite the smaller unit-sales increase.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proxy = listed price × units.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PRODUCT 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Q08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Suflower Oil ranked first on incremental revenue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8: top products by IR% during Sankranti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5072" y="2542032"/>
            <a:ext cx="0" cy="309067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267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072634" y="2542032"/>
            <a:ext cx="0" cy="309067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2267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40196" y="2542032"/>
            <a:ext cx="0" cy="309067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11012" y="2267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207758" y="2542032"/>
            <a:ext cx="0" cy="309067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8574" y="2267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275320" y="2542032"/>
            <a:ext cx="0" cy="3090672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6136" y="22677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005072" y="2029968"/>
            <a:ext cx="4270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 (%)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" y="25328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Suflower Oil (1L)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005072" y="2624328"/>
            <a:ext cx="3844335" cy="210312"/>
          </a:xfrm>
          <a:prstGeom prst="roundRect">
            <a:avLst>
              <a:gd name="adj" fmla="val 19565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0847" y="254203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299923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Essential 8 Product Combo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4005072" y="3090672"/>
            <a:ext cx="3839258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5770" y="300837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46557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Glo 15W LED Bulb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4005072" y="3557016"/>
            <a:ext cx="3758437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54949" y="347472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89.8%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39319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Waterproof Immersion Rod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4005072" y="4023360"/>
            <a:ext cx="3680243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6755" y="394106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87.9%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" y="439826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Chakki Atta (1KG)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4005072" y="4489704"/>
            <a:ext cx="3665903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62415" y="440740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87.6%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" y="486460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Bedsheet set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4005072" y="4956048"/>
            <a:ext cx="3643413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39925" y="487375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" y="533095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Curtains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4005072" y="5422392"/>
            <a:ext cx="3457913" cy="210312"/>
          </a:xfrm>
          <a:prstGeom prst="roundRect">
            <a:avLst>
              <a:gd name="adj" fmla="val 19565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54425" y="534009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82.6%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+91.83%</a:t>
            </a:r>
            <a:endParaRPr lang="en-US" sz="3050" dirty="0"/>
          </a:p>
        </p:txBody>
      </p:sp>
      <p:sp>
        <p:nvSpPr>
          <p:cNvPr id="49" name="Text 47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IR% • Atliq Suflower Oil (1L)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close to second place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Essential 8-Product Combo followed at +91.71%—only 0.12 percentage points behind. IR% compares growth rates, not contribution in rupees.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seven products are shown.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STORE DIAGNOSTIC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Q09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STVSK-3 had the lowest Diwali ISU% in Vizag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9: incremental sold units percentage, Visakhapatnam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20240"/>
            <a:ext cx="8266176" cy="4224528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2743200"/>
            <a:ext cx="0" cy="293522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2468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646170" y="2743200"/>
            <a:ext cx="0" cy="293522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6986" y="2468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015484" y="2743200"/>
            <a:ext cx="0" cy="293522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2468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384798" y="2743200"/>
            <a:ext cx="0" cy="293522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5614" y="2468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754112" y="2743200"/>
            <a:ext cx="0" cy="2935224"/>
          </a:xfrm>
          <a:prstGeom prst="line">
            <a:avLst/>
          </a:prstGeom>
          <a:noFill/>
          <a:ln w="7620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46888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76856" y="2231136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SOLD UNITS (%)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6112" y="2734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STVSK-3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2276856" y="2825496"/>
            <a:ext cx="3369436" cy="256032"/>
          </a:xfrm>
          <a:prstGeom prst="roundRect">
            <a:avLst>
              <a:gd name="adj" fmla="val 16071"/>
            </a:avLst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7732" y="2743200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49.2%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" y="33558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STVSK-4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2276856" y="3447288"/>
            <a:ext cx="3490826" cy="256032"/>
          </a:xfrm>
          <a:prstGeom prst="roundRect">
            <a:avLst>
              <a:gd name="adj" fmla="val 16071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9122" y="3364992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3977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STVSK-1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2276856" y="4069080"/>
            <a:ext cx="4227388" cy="256032"/>
          </a:xfrm>
          <a:prstGeom prst="roundRect">
            <a:avLst>
              <a:gd name="adj" fmla="val 16071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5684" y="3986784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61.7%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6112" y="4599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STVSK-2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2276856" y="4690872"/>
            <a:ext cx="4665006" cy="256032"/>
          </a:xfrm>
          <a:prstGeom prst="roundRect">
            <a:avLst>
              <a:gd name="adj" fmla="val 16071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33302" y="4608576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68.1%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6112" y="52212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STVSK-0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2276856" y="5312664"/>
            <a:ext cx="4790276" cy="256032"/>
          </a:xfrm>
          <a:prstGeom prst="roundRect">
            <a:avLst>
              <a:gd name="adj" fmla="val 16071"/>
            </a:avLst>
          </a:prstGeom>
          <a:solidFill>
            <a:srgbClr val="B5CACB"/>
          </a:solidFill>
          <a:ln w="12700">
            <a:solidFill>
              <a:srgbClr val="B5CAC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8572" y="523036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70.0%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79992" y="1947672"/>
            <a:ext cx="2560320" cy="41330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9992" y="1947672"/>
            <a:ext cx="2560320" cy="50292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99448" y="2194560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99448" y="2642616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+49.21%</a:t>
            </a:r>
            <a:endParaRPr lang="en-US" sz="3050" dirty="0"/>
          </a:p>
        </p:txBody>
      </p:sp>
      <p:sp>
        <p:nvSpPr>
          <p:cNvPr id="43" name="Text 41"/>
          <p:cNvSpPr/>
          <p:nvPr/>
        </p:nvSpPr>
        <p:spPr>
          <a:xfrm>
            <a:off x="9299448" y="3236976"/>
            <a:ext cx="2130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ISU% • STVSK-3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99448" y="3822192"/>
            <a:ext cx="2121408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9448" y="395935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growth, but still positive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99448" y="4718304"/>
            <a:ext cx="2084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Visakhapatnam stores improved unit sales versus the baseline. STVSK-3 is a relative laggard, not a declining store.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9299448" y="572414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i="1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ISU% = (after − before) / before.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EFFECTIVENESS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722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 underperformed on both Sankranti metrics</a:t>
            </a:r>
            <a:endParaRPr lang="en-US" sz="2560" dirty="0"/>
          </a:p>
        </p:txBody>
      </p:sp>
      <p:sp>
        <p:nvSpPr>
          <p:cNvPr id="8" name="Text 6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10: incremental revenue and units by promotion type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1901952"/>
            <a:ext cx="11045952" cy="4279392"/>
          </a:xfrm>
          <a:prstGeom prst="roundRect">
            <a:avLst>
              <a:gd name="adj" fmla="val 3632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1031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IR% / INCREMENTAL REVENUE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2103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ISU% / INCREMENTAL UNITS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11096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36776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099816" y="2633472"/>
            <a:ext cx="0" cy="2999232"/>
          </a:xfrm>
          <a:prstGeom prst="line">
            <a:avLst/>
          </a:prstGeom>
          <a:noFill/>
          <a:ln w="13335">
            <a:solidFill>
              <a:srgbClr val="264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25496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288536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4216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477256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77240" y="2843784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2164780" y="2935224"/>
            <a:ext cx="935036" cy="173736"/>
          </a:xfrm>
          <a:prstGeom prst="roundRect">
            <a:avLst>
              <a:gd name="adj" fmla="val 10526"/>
            </a:avLst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0420" y="28712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-39.3%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777240" y="341071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C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OFF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2959469" y="3502152"/>
            <a:ext cx="140347" cy="173736"/>
          </a:xfrm>
          <a:prstGeom prst="roundRect">
            <a:avLst>
              <a:gd name="adj" fmla="val 13031"/>
            </a:avLst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65109" y="34381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-5.9%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777240" y="3977640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C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OFF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2361013" y="4069080"/>
            <a:ext cx="738803" cy="173736"/>
          </a:xfrm>
          <a:prstGeom prst="roundRect">
            <a:avLst>
              <a:gd name="adj" fmla="val 10526"/>
            </a:avLst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66653" y="40050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-31.1%</a:t>
            </a:r>
            <a:endParaRPr lang="en-US" sz="910" dirty="0"/>
          </a:p>
        </p:txBody>
      </p:sp>
      <p:sp>
        <p:nvSpPr>
          <p:cNvPr id="32" name="Text 30"/>
          <p:cNvSpPr/>
          <p:nvPr/>
        </p:nvSpPr>
        <p:spPr>
          <a:xfrm>
            <a:off x="777240" y="4544568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C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Cashback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3099816" y="4636008"/>
            <a:ext cx="2180238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918" y="45720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+91.7%</a:t>
            </a:r>
            <a:endParaRPr lang="en-US" sz="910" dirty="0"/>
          </a:p>
        </p:txBody>
      </p:sp>
      <p:sp>
        <p:nvSpPr>
          <p:cNvPr id="35" name="Text 33"/>
          <p:cNvSpPr/>
          <p:nvPr/>
        </p:nvSpPr>
        <p:spPr>
          <a:xfrm>
            <a:off x="777240" y="5111496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30" dirty="0">
                <a:solidFill>
                  <a:srgbClr val="1C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BOGOF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3099816" y="5202936"/>
            <a:ext cx="2099927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4607" y="51389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+88.3%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7315200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794642" y="2633472"/>
            <a:ext cx="0" cy="2999232"/>
          </a:xfrm>
          <a:prstGeom prst="line">
            <a:avLst/>
          </a:prstGeom>
          <a:noFill/>
          <a:ln w="13335">
            <a:solidFill>
              <a:srgbClr val="264C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0322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9232969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58649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+150%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10671295" y="2633472"/>
            <a:ext cx="0" cy="2999232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96975" y="24140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+300%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606671" y="2935224"/>
            <a:ext cx="187971" cy="173736"/>
          </a:xfrm>
          <a:prstGeom prst="roundRect">
            <a:avLst>
              <a:gd name="adj" fmla="val 10526"/>
            </a:avLst>
          </a:prstGeom>
          <a:solidFill>
            <a:srgbClr val="D96A4E"/>
          </a:solidFill>
          <a:ln w="12700">
            <a:solidFill>
              <a:srgbClr val="D96A4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2311" y="28712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-19.6%</a:t>
            </a:r>
            <a:endParaRPr lang="en-US" sz="910" dirty="0"/>
          </a:p>
        </p:txBody>
      </p:sp>
      <p:sp>
        <p:nvSpPr>
          <p:cNvPr id="48" name="Shape 46"/>
          <p:cNvSpPr/>
          <p:nvPr/>
        </p:nvSpPr>
        <p:spPr>
          <a:xfrm>
            <a:off x="7794642" y="3502152"/>
            <a:ext cx="394545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44051" y="34381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+41.1%</a:t>
            </a:r>
            <a:endParaRPr lang="en-US" sz="910" dirty="0"/>
          </a:p>
        </p:txBody>
      </p:sp>
      <p:sp>
        <p:nvSpPr>
          <p:cNvPr id="50" name="Shape 48"/>
          <p:cNvSpPr/>
          <p:nvPr/>
        </p:nvSpPr>
        <p:spPr>
          <a:xfrm>
            <a:off x="7794642" y="4069080"/>
            <a:ext cx="355246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04752" y="40050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+37.0%</a:t>
            </a:r>
            <a:endParaRPr lang="en-US" sz="910" dirty="0"/>
          </a:p>
        </p:txBody>
      </p:sp>
      <p:sp>
        <p:nvSpPr>
          <p:cNvPr id="52" name="Shape 50"/>
          <p:cNvSpPr/>
          <p:nvPr/>
        </p:nvSpPr>
        <p:spPr>
          <a:xfrm>
            <a:off x="7794642" y="4636008"/>
            <a:ext cx="1246994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6500" y="45720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+130.0%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7794642" y="5202936"/>
            <a:ext cx="2666121" cy="173736"/>
          </a:xfrm>
          <a:prstGeom prst="roundRect">
            <a:avLst>
              <a:gd name="adj" fmla="val 10526"/>
            </a:avLst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5627" y="51389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+278.0%</a:t>
            </a:r>
            <a:endParaRPr lang="en-US" sz="910" dirty="0"/>
          </a:p>
        </p:txBody>
      </p:sp>
      <p:sp>
        <p:nvSpPr>
          <p:cNvPr id="56" name="Shape 54"/>
          <p:cNvSpPr/>
          <p:nvPr/>
        </p:nvSpPr>
        <p:spPr>
          <a:xfrm>
            <a:off x="969264" y="5760720"/>
            <a:ext cx="10341864" cy="329184"/>
          </a:xfrm>
          <a:prstGeom prst="roundRect">
            <a:avLst>
              <a:gd name="adj" fmla="val 22222"/>
            </a:avLst>
          </a:prstGeom>
          <a:solidFill>
            <a:srgbClr val="F9E6E1"/>
          </a:solidFill>
          <a:ln w="12700">
            <a:solidFill>
              <a:srgbClr val="F9E6E1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61288" y="5797296"/>
            <a:ext cx="10030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5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OFF: −39.33% IR   |   −19.60% ISU      →      Investigate offer economics and execution before repeating.</a:t>
            </a:r>
            <a:endParaRPr lang="en-US" sz="105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findings into a focused test plan</a:t>
            </a:r>
            <a:endParaRPr lang="en-US" sz="2560" dirty="0"/>
          </a:p>
        </p:txBody>
      </p:sp>
      <p:sp>
        <p:nvSpPr>
          <p:cNvPr id="7" name="Text 5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for the sales, operations and commercial teams.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2048256"/>
            <a:ext cx="3419856" cy="3383280"/>
          </a:xfrm>
          <a:prstGeom prst="roundRect">
            <a:avLst>
              <a:gd name="adj" fmla="val 513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25856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32104" y="2898648"/>
            <a:ext cx="2871216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10896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/ PRICING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" y="350215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discount economics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" y="4325112"/>
            <a:ext cx="2807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why 25% OFF declined on both metrics. Validate actual selling prices, discount funding and item-level demand.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832104" y="516636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diagnostic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425696" y="2048256"/>
            <a:ext cx="3419856" cy="3383280"/>
          </a:xfrm>
          <a:prstGeom prst="roundRect">
            <a:avLst>
              <a:gd name="adj" fmla="val 513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225856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4672584" y="2898648"/>
            <a:ext cx="2871216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310896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CAMPAIGNS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2584" y="350215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strongest mechanics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72584" y="4325112"/>
            <a:ext cx="2807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BOGOF and cashback structures with controlled stores, matched baselines and explicit gross-margin guardrails.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672584" y="516636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campaign design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8266176" y="2048256"/>
            <a:ext cx="3419856" cy="3383280"/>
          </a:xfrm>
          <a:prstGeom prst="roundRect">
            <a:avLst>
              <a:gd name="adj" fmla="val 5135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3064" y="225856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8513064" y="2898648"/>
            <a:ext cx="2871216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310896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3502152"/>
            <a:ext cx="2816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store variation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13064" y="4325112"/>
            <a:ext cx="2807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STCHE-4 with other top Diwali stores and review STVSK-3 against peers on availability and execution.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8513064" y="516636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26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Store-level follow-up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85216" y="5669280"/>
            <a:ext cx="10991088" cy="429768"/>
          </a:xfrm>
          <a:prstGeom prst="roundRect">
            <a:avLst>
              <a:gd name="adj" fmla="val 25532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5788152"/>
            <a:ext cx="10561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5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upgrade: track net revenue, promotional cost, gross margin and comparable sales windows.</a:t>
            </a:r>
            <a:endParaRPr lang="en-US" sz="10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questions: answers at a glance</a:t>
            </a:r>
            <a:endParaRPr lang="en-US" sz="2560" dirty="0"/>
          </a:p>
        </p:txBody>
      </p:sp>
      <p:sp>
        <p:nvSpPr>
          <p:cNvPr id="7" name="Text 5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reference to the ten requested results.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1956816"/>
            <a:ext cx="5413248" cy="4270248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2093976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1945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0744" y="2011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 removed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0744" y="232257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records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768096" y="2761488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2898648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80744" y="2816352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with &gt;5 stores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0744" y="312724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cities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768096" y="3566160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703320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38039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80744" y="362102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quantity / median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0744" y="393192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values / 78 units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768096" y="4370832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" y="4507992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60857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80744" y="4425696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avg. category price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80744" y="473659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Care / ₹102.38</a:t>
            </a:r>
            <a:endParaRPr lang="en-US" sz="1340" dirty="0"/>
          </a:p>
        </p:txBody>
      </p:sp>
      <p:sp>
        <p:nvSpPr>
          <p:cNvPr id="31" name="Shape 29"/>
          <p:cNvSpPr/>
          <p:nvPr/>
        </p:nvSpPr>
        <p:spPr>
          <a:xfrm>
            <a:off x="768096" y="5175504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" y="5312664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54132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380744" y="523036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Diwali BOGOF unit sales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80744" y="5541264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34,461 units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6190488" y="1956816"/>
            <a:ext cx="5413248" cy="4270248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7620">
            <a:solidFill>
              <a:srgbClr val="E5E9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4224" y="2093976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1945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86016" y="201168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Diwali store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86016" y="232257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STCHE-4 / 5,013 units</a:t>
            </a:r>
            <a:endParaRPr lang="en-US" sz="1340" dirty="0"/>
          </a:p>
        </p:txBody>
      </p:sp>
      <p:sp>
        <p:nvSpPr>
          <p:cNvPr id="41" name="Shape 39"/>
          <p:cNvSpPr/>
          <p:nvPr/>
        </p:nvSpPr>
        <p:spPr>
          <a:xfrm>
            <a:off x="6373368" y="2761488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2898648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999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86016" y="2816352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unit-sales increase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86016" y="312724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Sankranti / +154,175</a:t>
            </a:r>
            <a:endParaRPr lang="en-US" sz="1340" dirty="0"/>
          </a:p>
        </p:txBody>
      </p:sp>
      <p:sp>
        <p:nvSpPr>
          <p:cNvPr id="46" name="Shape 44"/>
          <p:cNvSpPr/>
          <p:nvPr/>
        </p:nvSpPr>
        <p:spPr>
          <a:xfrm>
            <a:off x="6373368" y="3566160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64224" y="3703320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80390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86016" y="362102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Sankranti product IR%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86016" y="393192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Suflower Oil / +91.83%</a:t>
            </a:r>
            <a:endParaRPr lang="en-US" sz="1340" dirty="0"/>
          </a:p>
        </p:txBody>
      </p:sp>
      <p:sp>
        <p:nvSpPr>
          <p:cNvPr id="51" name="Shape 49"/>
          <p:cNvSpPr/>
          <p:nvPr/>
        </p:nvSpPr>
        <p:spPr>
          <a:xfrm>
            <a:off x="6373368" y="4370832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64224" y="4507992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E0F1ED"/>
          </a:solidFill>
          <a:ln w="12700">
            <a:solidFill>
              <a:srgbClr val="E0F1ED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460857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986016" y="4425696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Diwali Vizag ISU%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86016" y="473659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STVSK-3 / +49.21%</a:t>
            </a:r>
            <a:endParaRPr lang="en-US" sz="1340" dirty="0"/>
          </a:p>
        </p:txBody>
      </p:sp>
      <p:sp>
        <p:nvSpPr>
          <p:cNvPr id="56" name="Shape 54"/>
          <p:cNvSpPr/>
          <p:nvPr/>
        </p:nvSpPr>
        <p:spPr>
          <a:xfrm>
            <a:off x="6373368" y="5175504"/>
            <a:ext cx="5047488" cy="0"/>
          </a:xfrm>
          <a:prstGeom prst="line">
            <a:avLst/>
          </a:prstGeom>
          <a:noFill/>
          <a:ln w="6985">
            <a:solidFill>
              <a:srgbClr val="E5E9E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64224" y="5312664"/>
            <a:ext cx="475488" cy="420624"/>
          </a:xfrm>
          <a:prstGeom prst="roundRect">
            <a:avLst>
              <a:gd name="adj" fmla="val 17391"/>
            </a:avLst>
          </a:prstGeom>
          <a:solidFill>
            <a:srgbClr val="F9E6E1"/>
          </a:solidFill>
          <a:ln w="12700">
            <a:solidFill>
              <a:srgbClr val="F9E6E1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54132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986016" y="523036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Sankranti IR% &amp; ISU%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986016" y="5541264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OFF / −39.33%, −19.60%</a:t>
            </a:r>
            <a:endParaRPr lang="en-US" sz="13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 w="12700">
            <a:solidFill>
              <a:srgbClr val="F8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087F76"/>
          </a:solidFill>
          <a:ln w="12700">
            <a:solidFill>
              <a:srgbClr val="087F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 PERFORMANCE / ATLIQ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281160" y="2926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and interpretation notes</a:t>
            </a:r>
            <a:endParaRPr lang="en-US" sz="2560" dirty="0"/>
          </a:p>
        </p:txBody>
      </p:sp>
      <p:sp>
        <p:nvSpPr>
          <p:cNvPr id="7" name="Text 5"/>
          <p:cNvSpPr/>
          <p:nvPr/>
        </p:nvSpPr>
        <p:spPr>
          <a:xfrm>
            <a:off x="585216" y="144475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needed to use the findings responsibly.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6533388"/>
            <a:ext cx="11055096" cy="0"/>
          </a:xfrm>
          <a:prstGeom prst="line">
            <a:avLst/>
          </a:prstGeom>
          <a:noFill/>
          <a:ln w="11430">
            <a:solidFill>
              <a:srgbClr val="E5E9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5653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" dirty="0">
                <a:solidFill>
                  <a:srgbClr val="86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promotional event and dimension tables • Campaigns: Nov 2023–Jan 2024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1000232" y="65379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6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920240"/>
            <a:ext cx="6647688" cy="4370832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6985">
            <a:solidFill>
              <a:srgbClr val="E5E9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157984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SCOPE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9536" y="2450592"/>
            <a:ext cx="5907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stores · 10 cities · 15 products · 2 campaigns. Events are at the store × campaign × product level.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859536" y="3127248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3419856"/>
            <a:ext cx="5907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10 duplicate event keys (first retained). Imputed 20 missing before-promotion quantities with median 78.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859536" y="4096512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UNITS (ISU%)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" y="4389120"/>
            <a:ext cx="5907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× (total after units − total before units) ÷ total before units.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859536" y="5065776"/>
            <a:ext cx="5934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08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REVENUE (IR%)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9536" y="5358384"/>
            <a:ext cx="5907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× (total after revenue − total before revenue) ÷ total before revenue.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7434072" y="1920240"/>
            <a:ext cx="4178808" cy="4370832"/>
          </a:xfrm>
          <a:prstGeom prst="roundRect">
            <a:avLst>
              <a:gd name="adj" fmla="val 3720"/>
            </a:avLst>
          </a:prstGeom>
          <a:solidFill>
            <a:srgbClr val="FBF0DD"/>
          </a:solidFill>
          <a:ln w="12700">
            <a:solidFill>
              <a:srgbClr val="FBF0D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1854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b="1" spc="130" kern="0" dirty="0">
                <a:solidFill>
                  <a:srgbClr val="D9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QUALIFIERS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708392" y="2615184"/>
            <a:ext cx="36301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calculated as listed base price × units. It is a proxy, not verified net receipts or profit.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08392" y="3749040"/>
            <a:ext cx="3621024" cy="0"/>
          </a:xfrm>
          <a:prstGeom prst="line">
            <a:avLst/>
          </a:prstGeom>
          <a:noFill/>
          <a:ln w="10160">
            <a:solidFill>
              <a:srgbClr val="E5E9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3968496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3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pre-promotion quantity measures the preceding week. Comparisons assume consistent periods and do not establish causality.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7708392" y="5148072"/>
            <a:ext cx="35753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6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averages are event-record weighted; Combo1 is charted separately on the pricing slide.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Retail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Promotion Performance Review</dc:title>
  <dc:subject>Atliq promotion performance analysis: Diwali and Sankranti</dc:subject>
  <dc:creator>Retail Analytics</dc:creator>
  <cp:lastModifiedBy>Retail Analytics</cp:lastModifiedBy>
  <cp:revision>1</cp:revision>
  <dcterms:created xsi:type="dcterms:W3CDTF">2026-10-21T05:54:09Z</dcterms:created>
  <dcterms:modified xsi:type="dcterms:W3CDTF">2026-10-21T05:54:09Z</dcterms:modified>
</cp:coreProperties>
</file>